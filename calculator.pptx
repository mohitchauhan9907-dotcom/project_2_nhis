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94" r:id="rId1"/>
  </p:sldMasterIdLst>
  <p:sldIdLst>
    <p:sldId id="272" r:id="rId2"/>
    <p:sldId id="267" r:id="rId3"/>
    <p:sldId id="258" r:id="rId4"/>
    <p:sldId id="259" r:id="rId5"/>
    <p:sldId id="268" r:id="rId6"/>
    <p:sldId id="264" r:id="rId7"/>
    <p:sldId id="262" r:id="rId8"/>
    <p:sldId id="266" r:id="rId9"/>
    <p:sldId id="260" r:id="rId10"/>
    <p:sldId id="261" r:id="rId11"/>
    <p:sldId id="263" r:id="rId12"/>
    <p:sldId id="265" r:id="rId13"/>
    <p:sldId id="273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900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60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09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596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19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43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58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64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11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51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4658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307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9592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284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801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532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67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74045-2734-4491-8CB9-EC6AFE5DC55B}" type="datetimeFigureOut">
              <a:rPr lang="en-IN" smtClean="0"/>
              <a:t>16-02-26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85081E1-632C-4A47-8AB2-2A8074932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54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5" r:id="rId1"/>
    <p:sldLayoutId id="2147484396" r:id="rId2"/>
    <p:sldLayoutId id="2147484397" r:id="rId3"/>
    <p:sldLayoutId id="2147484398" r:id="rId4"/>
    <p:sldLayoutId id="2147484399" r:id="rId5"/>
    <p:sldLayoutId id="2147484400" r:id="rId6"/>
    <p:sldLayoutId id="2147484401" r:id="rId7"/>
    <p:sldLayoutId id="2147484402" r:id="rId8"/>
    <p:sldLayoutId id="2147484403" r:id="rId9"/>
    <p:sldLayoutId id="2147484404" r:id="rId10"/>
    <p:sldLayoutId id="2147484405" r:id="rId11"/>
    <p:sldLayoutId id="2147484406" r:id="rId12"/>
    <p:sldLayoutId id="2147484407" r:id="rId13"/>
    <p:sldLayoutId id="2147484408" r:id="rId14"/>
    <p:sldLayoutId id="2147484409" r:id="rId15"/>
    <p:sldLayoutId id="2147484410" r:id="rId16"/>
    <p:sldLayoutId id="214748441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4F8E2-CEE4-BB1B-72EA-A2C8893A0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599607"/>
            <a:ext cx="10387845" cy="5801194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sz="4000" dirty="0"/>
              <a:t> </a:t>
            </a:r>
          </a:p>
          <a:p>
            <a:pPr algn="ctr"/>
            <a:r>
              <a:rPr lang="en-US" sz="4000" dirty="0"/>
              <a:t> NextHikes IT Solutions </a:t>
            </a:r>
          </a:p>
          <a:p>
            <a:r>
              <a:rPr lang="en-US" sz="4000"/>
              <a:t>  </a:t>
            </a:r>
            <a:r>
              <a:rPr lang="en-US" sz="4000" dirty="0"/>
              <a:t>Basic Calculator using Python &amp; Tkinter</a:t>
            </a:r>
          </a:p>
          <a:p>
            <a:endParaRPr lang="en-US" sz="4000" dirty="0"/>
          </a:p>
          <a:p>
            <a:pPr algn="ctr"/>
            <a:r>
              <a:rPr lang="en-US" sz="4000" dirty="0"/>
              <a:t>By Mohit Singh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644310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A51C-1279-0EDA-BFE9-62974A7FE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61258"/>
            <a:ext cx="10364451" cy="696686"/>
          </a:xfrm>
        </p:spPr>
        <p:txBody>
          <a:bodyPr>
            <a:normAutofit/>
          </a:bodyPr>
          <a:lstStyle/>
          <a:p>
            <a:r>
              <a:rPr lang="en-IN" b="1" dirty="0"/>
              <a:t>              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E6E52-A23A-6421-5496-5502C5CFC4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57944"/>
            <a:ext cx="10363826" cy="5181599"/>
          </a:xfrm>
        </p:spPr>
        <p:txBody>
          <a:bodyPr>
            <a:noAutofit/>
          </a:bodyPr>
          <a:lstStyle/>
          <a:p>
            <a:r>
              <a:rPr lang="en-US" sz="2200" dirty="0"/>
              <a:t>A calculator is an essential tool used for performing basic mathematical operations in daily life.</a:t>
            </a:r>
          </a:p>
          <a:p>
            <a:r>
              <a:rPr lang="en-US" sz="2200" dirty="0"/>
              <a:t>It helps in solving calculations quickly and accurately.</a:t>
            </a:r>
          </a:p>
          <a:p>
            <a:r>
              <a:rPr lang="en-US" sz="2200" dirty="0"/>
              <a:t>This project focuses on developing a graphical calculator using Python programming language.</a:t>
            </a:r>
          </a:p>
          <a:p>
            <a:r>
              <a:rPr lang="en-US" sz="2200" dirty="0"/>
              <a:t>The Tkinter library is used to design the graphical user interface of the application.</a:t>
            </a:r>
          </a:p>
          <a:p>
            <a:r>
              <a:rPr lang="en-US" sz="2200" dirty="0"/>
              <a:t>Unlike command-line programs, this calculator provides an interactive and user-friendly experience.</a:t>
            </a:r>
          </a:p>
          <a:p>
            <a:r>
              <a:rPr lang="en-US" sz="2200" dirty="0"/>
              <a:t>Users can perform operations using buttons and a display screen.</a:t>
            </a:r>
          </a:p>
          <a:p>
            <a:r>
              <a:rPr lang="en-US" sz="2200" dirty="0"/>
              <a:t>The application follows event-driven programming concepts.</a:t>
            </a:r>
          </a:p>
          <a:p>
            <a:r>
              <a:rPr lang="en-US" sz="2200" dirty="0"/>
              <a:t>This project demonstrates practical implementation of Python GUI development.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81111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E87D-D82C-E362-4EB6-45ADE2E87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71" y="145144"/>
            <a:ext cx="10671629" cy="74022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                   Objective of the Project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0AF96-4930-7FCD-13D3-47BE40B78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829" y="1004342"/>
            <a:ext cx="9289142" cy="5488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To develop a user-friendly graphical calculator application.</a:t>
            </a:r>
            <a:br>
              <a:rPr lang="en-US" sz="2400" dirty="0"/>
            </a:br>
            <a:r>
              <a:rPr lang="en-US" sz="2400" dirty="0"/>
              <a:t>• To perform basic arithmetic operations accurately.</a:t>
            </a:r>
            <a:br>
              <a:rPr lang="en-US" sz="2400" dirty="0"/>
            </a:br>
            <a:r>
              <a:rPr lang="en-US" sz="2400" dirty="0"/>
              <a:t>• To design an interactive interface using Tkinter.</a:t>
            </a:r>
            <a:br>
              <a:rPr lang="en-US" sz="2400" dirty="0"/>
            </a:br>
            <a:r>
              <a:rPr lang="en-US" sz="2400" dirty="0"/>
              <a:t>• To replace command-line calculation with GUI-based system.</a:t>
            </a:r>
            <a:br>
              <a:rPr lang="en-US" sz="2400" dirty="0"/>
            </a:br>
            <a:r>
              <a:rPr lang="en-US" sz="2400" dirty="0"/>
              <a:t>• To handle user input efficiently through buttons.</a:t>
            </a:r>
            <a:br>
              <a:rPr lang="en-US" sz="2400" dirty="0"/>
            </a:br>
            <a:r>
              <a:rPr lang="en-US" sz="2400" dirty="0"/>
              <a:t>• To implement error-free calculation process.</a:t>
            </a:r>
            <a:br>
              <a:rPr lang="en-US" sz="2400" dirty="0"/>
            </a:br>
            <a:r>
              <a:rPr lang="en-US" sz="2400" dirty="0"/>
              <a:t>• To store recent calculation history for reference.</a:t>
            </a:r>
            <a:br>
              <a:rPr lang="en-US" sz="2400" dirty="0"/>
            </a:br>
            <a:r>
              <a:rPr lang="en-US" sz="2400" dirty="0"/>
              <a:t>• To improve problem-solving and logical programming skills.</a:t>
            </a:r>
            <a:br>
              <a:rPr lang="en-US" sz="2400" dirty="0"/>
            </a:br>
            <a:r>
              <a:rPr lang="en-US" sz="2400" dirty="0"/>
              <a:t>• To understand event-driven programming concepts.</a:t>
            </a:r>
            <a:br>
              <a:rPr lang="en-US" sz="2400" dirty="0"/>
            </a:br>
            <a:r>
              <a:rPr lang="en-US" sz="2400" dirty="0"/>
              <a:t>• To build a real-world Python application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00293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6F82-2B72-E7F5-9414-E19E8BF9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657"/>
            <a:ext cx="10515600" cy="1146629"/>
          </a:xfrm>
        </p:spPr>
        <p:txBody>
          <a:bodyPr/>
          <a:lstStyle/>
          <a:p>
            <a:r>
              <a:rPr lang="en-IN" dirty="0"/>
              <a:t>           </a:t>
            </a:r>
            <a:r>
              <a:rPr lang="en-IN" b="1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105A7-E2DE-FB85-C12A-DD282C0FF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 </a:t>
            </a:r>
            <a:r>
              <a:rPr lang="en-US" sz="2200" b="1" dirty="0"/>
              <a:t>Python Programming Language</a:t>
            </a:r>
            <a:br>
              <a:rPr lang="en-US" sz="2200" dirty="0"/>
            </a:br>
            <a:r>
              <a:rPr lang="en-US" sz="2200" dirty="0"/>
              <a:t>Used as the main language to write calculator logic and functions.</a:t>
            </a:r>
          </a:p>
          <a:p>
            <a:endParaRPr lang="en-US" sz="2200" dirty="0"/>
          </a:p>
          <a:p>
            <a:r>
              <a:rPr lang="en-US" sz="2200" b="1" dirty="0"/>
              <a:t>Tkinter Library (GUI)</a:t>
            </a:r>
            <a:br>
              <a:rPr lang="en-US" sz="2200" dirty="0"/>
            </a:br>
            <a:r>
              <a:rPr lang="en-US" sz="2200" dirty="0"/>
              <a:t>Used to create buttons, display screen, and graphical interface.</a:t>
            </a:r>
          </a:p>
          <a:p>
            <a:endParaRPr lang="en-US" sz="2200" dirty="0"/>
          </a:p>
          <a:p>
            <a:r>
              <a:rPr lang="en-US" sz="2200" dirty="0"/>
              <a:t> </a:t>
            </a:r>
            <a:r>
              <a:rPr lang="en-US" sz="2200" b="1" dirty="0"/>
              <a:t>Visual Studio Code</a:t>
            </a:r>
            <a:br>
              <a:rPr lang="en-US" sz="2200" dirty="0"/>
            </a:br>
            <a:r>
              <a:rPr lang="en-US" sz="2200" dirty="0"/>
              <a:t>Used as the code editor for writing and testing the program.</a:t>
            </a:r>
          </a:p>
          <a:p>
            <a:endParaRPr lang="en-US" sz="2200" dirty="0"/>
          </a:p>
          <a:p>
            <a:r>
              <a:rPr lang="en-US" sz="2200" dirty="0"/>
              <a:t> </a:t>
            </a:r>
            <a:r>
              <a:rPr lang="en-US" sz="2200" b="1" dirty="0"/>
              <a:t>GitHub</a:t>
            </a:r>
            <a:br>
              <a:rPr lang="en-US" sz="2200" dirty="0"/>
            </a:br>
            <a:r>
              <a:rPr lang="en-US" sz="2200" dirty="0"/>
              <a:t>Used to store, manage, and share the project code online.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050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4E51-8E18-F48A-B82D-23EBB2310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33829"/>
            <a:ext cx="10364451" cy="732973"/>
          </a:xfrm>
        </p:spPr>
        <p:txBody>
          <a:bodyPr>
            <a:normAutofit/>
          </a:bodyPr>
          <a:lstStyle/>
          <a:p>
            <a:r>
              <a:rPr lang="en-IN" b="1" dirty="0"/>
              <a:t>           Calculator Layout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2C070-57F3-9135-CF10-8E8C4AB846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2797" y="1393371"/>
            <a:ext cx="10595429" cy="5464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Layout Structure of the Application</a:t>
            </a:r>
            <a:endParaRPr lang="en-US" sz="2200" b="1" dirty="0"/>
          </a:p>
          <a:p>
            <a:pPr marL="0" indent="0">
              <a:buNone/>
            </a:pPr>
            <a:r>
              <a:rPr lang="en-US" sz="2200" dirty="0"/>
              <a:t>• The calculator window is created using the Tk() main root window.</a:t>
            </a:r>
          </a:p>
          <a:p>
            <a:pPr marL="0" indent="0">
              <a:buNone/>
            </a:pPr>
            <a:r>
              <a:rPr lang="en-US" sz="2200" dirty="0"/>
              <a:t>• An </a:t>
            </a:r>
            <a:r>
              <a:rPr lang="en-US" sz="2200" b="1" dirty="0"/>
              <a:t>Entry widget</a:t>
            </a:r>
            <a:r>
              <a:rPr lang="en-US" sz="2200" dirty="0"/>
              <a:t> is placed at the top to display numbers, expressions, and results.</a:t>
            </a:r>
          </a:p>
          <a:p>
            <a:pPr marL="0" indent="0">
              <a:buNone/>
            </a:pPr>
            <a:r>
              <a:rPr lang="en-US" sz="2200" dirty="0"/>
              <a:t>• A </a:t>
            </a:r>
            <a:r>
              <a:rPr lang="en-US" sz="2200" b="1" dirty="0"/>
              <a:t>Frame container</a:t>
            </a:r>
            <a:r>
              <a:rPr lang="en-US" sz="2200" dirty="0"/>
              <a:t> is used to organize all calculator buttons properly.</a:t>
            </a:r>
          </a:p>
          <a:p>
            <a:pPr marL="0" indent="0">
              <a:buNone/>
            </a:pPr>
            <a:r>
              <a:rPr lang="en-US" sz="2200" dirty="0"/>
              <a:t>• The </a:t>
            </a:r>
            <a:r>
              <a:rPr lang="en-US" sz="2200" b="1" dirty="0"/>
              <a:t>Grid layout manager</a:t>
            </a:r>
            <a:r>
              <a:rPr lang="en-US" sz="2200" dirty="0"/>
              <a:t> is used to align buttons in rows and columns.</a:t>
            </a:r>
          </a:p>
          <a:p>
            <a:pPr marL="0" indent="0">
              <a:buNone/>
            </a:pPr>
            <a:r>
              <a:rPr lang="en-US" sz="2200" dirty="0"/>
              <a:t>• Buttons are evenly spaced using padding and column weight configuration.</a:t>
            </a:r>
          </a:p>
          <a:p>
            <a:pPr marL="0" indent="0">
              <a:buNone/>
            </a:pPr>
            <a:r>
              <a:rPr lang="en-US" sz="2200" dirty="0"/>
              <a:t>• The Equal (=) button is designed larger for better visibility and user experience.</a:t>
            </a:r>
          </a:p>
          <a:p>
            <a:pPr marL="0" indent="0">
              <a:buNone/>
            </a:pPr>
            <a:r>
              <a:rPr lang="en-US" sz="2200" dirty="0"/>
              <a:t>• The layout is responsive and structured for clean and organized appearance.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89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A3C-A709-6F13-1291-29A7434A0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45142"/>
            <a:ext cx="10364451" cy="957943"/>
          </a:xfrm>
        </p:spPr>
        <p:txBody>
          <a:bodyPr>
            <a:normAutofit/>
          </a:bodyPr>
          <a:lstStyle/>
          <a:p>
            <a:r>
              <a:rPr lang="en-IN" b="1" dirty="0"/>
              <a:t>            Application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92CAA-1C96-3635-307E-BEF0027A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378857"/>
            <a:ext cx="10364452" cy="5080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/>
              <a:t>User clicks button </a:t>
            </a:r>
          </a:p>
          <a:p>
            <a:pPr marL="0" indent="0" algn="ctr">
              <a:buNone/>
            </a:pPr>
            <a:r>
              <a:rPr lang="en-IN" sz="2400" dirty="0"/>
              <a:t>⬇</a:t>
            </a:r>
            <a:endParaRPr lang="en-US" sz="2400" dirty="0"/>
          </a:p>
          <a:p>
            <a:pPr marL="0" indent="0" algn="ctr">
              <a:buNone/>
            </a:pPr>
            <a:r>
              <a:rPr lang="en-IN" sz="2200" dirty="0"/>
              <a:t>Value sent to function</a:t>
            </a:r>
            <a:endParaRPr lang="en-US" sz="2200" dirty="0"/>
          </a:p>
          <a:p>
            <a:pPr marL="0" indent="0" algn="ctr">
              <a:buNone/>
            </a:pPr>
            <a:r>
              <a:rPr lang="en-IN" sz="2400" dirty="0"/>
              <a:t>⬇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/>
              <a:t>Expression built </a:t>
            </a:r>
          </a:p>
          <a:p>
            <a:pPr marL="0" indent="0" algn="ctr">
              <a:buNone/>
            </a:pPr>
            <a:r>
              <a:rPr lang="en-IN" sz="2400" dirty="0"/>
              <a:t>⬇</a:t>
            </a:r>
            <a:br>
              <a:rPr lang="en-US" sz="2200" dirty="0"/>
            </a:br>
            <a:r>
              <a:rPr lang="en-US" sz="2200" dirty="0"/>
              <a:t>Evaluation performed </a:t>
            </a:r>
          </a:p>
          <a:p>
            <a:pPr marL="0" indent="0" algn="ctr">
              <a:buNone/>
            </a:pPr>
            <a:r>
              <a:rPr lang="en-IN" sz="2400" dirty="0"/>
              <a:t>⬇</a:t>
            </a:r>
            <a:br>
              <a:rPr lang="en-US" sz="2200" dirty="0"/>
            </a:br>
            <a:r>
              <a:rPr lang="en-US" sz="2200" dirty="0"/>
              <a:t>Result displayed</a:t>
            </a:r>
          </a:p>
          <a:p>
            <a:pPr marL="0" indent="0" algn="ctr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02127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BF43-EF5E-683D-9491-8CA74E01C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04799"/>
            <a:ext cx="9449425" cy="114663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                     </a:t>
            </a:r>
            <a:r>
              <a:rPr lang="en-US" sz="4700" b="1" dirty="0"/>
              <a:t>User</a:t>
            </a:r>
            <a:r>
              <a:rPr lang="en-US" sz="4000" b="1" dirty="0"/>
              <a:t> Interface Design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9041-7FBF-F921-D688-31D5D0C73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451429"/>
            <a:ext cx="10364452" cy="4775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  UI Components</a:t>
            </a:r>
            <a:endParaRPr lang="en-US" b="1" dirty="0"/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US" sz="2200" b="1" dirty="0"/>
              <a:t>Entry box for display</a:t>
            </a:r>
            <a:r>
              <a:rPr lang="en-US" sz="2200" dirty="0"/>
              <a:t> – Shows the typed numbers, expressions, and final result of calculations.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US" sz="2200" b="1" dirty="0"/>
              <a:t>Number buttons (0–9, 00)</a:t>
            </a:r>
            <a:r>
              <a:rPr lang="en-US" sz="2200" dirty="0"/>
              <a:t> – Used to input numeric values quickly into the calculator.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US" sz="2200" b="1" dirty="0"/>
              <a:t>Operation buttons</a:t>
            </a:r>
            <a:r>
              <a:rPr lang="en-US" sz="2200" dirty="0"/>
              <a:t> – Used to perform actions like +, −, ×, ÷, and %.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US" sz="2200" b="1" dirty="0"/>
              <a:t>Equal (=) button</a:t>
            </a:r>
            <a:r>
              <a:rPr lang="en-US" sz="2200" dirty="0"/>
              <a:t> – Calculates and displays the final result of the expression.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US" sz="2200" b="1" dirty="0"/>
              <a:t>History button</a:t>
            </a:r>
            <a:r>
              <a:rPr lang="en-US" sz="2200" dirty="0"/>
              <a:t> – Displays the last 5 previous calculations for quick reference and reuse.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250048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32D2D-0A65-FFF8-CBF9-625CE6DD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74171"/>
            <a:ext cx="10364451" cy="827315"/>
          </a:xfrm>
        </p:spPr>
        <p:txBody>
          <a:bodyPr>
            <a:normAutofit/>
          </a:bodyPr>
          <a:lstStyle/>
          <a:p>
            <a:r>
              <a:rPr lang="en-IN" b="1" dirty="0"/>
              <a:t>         Final Calculator User Interface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5EDF52-70A4-06D8-489B-6D74BBC7E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276" y="1154243"/>
            <a:ext cx="3822492" cy="523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7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A7BC-1B2C-2AF6-1D91-31863E1C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24"/>
            <a:ext cx="10515600" cy="906533"/>
          </a:xfrm>
        </p:spPr>
        <p:txBody>
          <a:bodyPr/>
          <a:lstStyle/>
          <a:p>
            <a:r>
              <a:rPr lang="en-IN" dirty="0"/>
              <a:t>             </a:t>
            </a:r>
            <a:r>
              <a:rPr lang="en-IN" b="1" dirty="0"/>
              <a:t>Calculator Functions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175E75-3358-9140-1D19-E46C134B9ACF}"/>
              </a:ext>
            </a:extLst>
          </p:cNvPr>
          <p:cNvSpPr txBox="1"/>
          <p:nvPr/>
        </p:nvSpPr>
        <p:spPr>
          <a:xfrm>
            <a:off x="769257" y="1117093"/>
            <a:ext cx="65785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Addition (+)</a:t>
            </a:r>
            <a:r>
              <a:rPr lang="en-US" sz="2200" dirty="0"/>
              <a:t> – Adds two numbers together (Example: 65 +32 = </a:t>
            </a:r>
            <a:r>
              <a:rPr lang="en-US" sz="2200" b="1" dirty="0"/>
              <a:t>97</a:t>
            </a:r>
            <a:r>
              <a:rPr lang="en-US" sz="2200" dirty="0"/>
              <a:t>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AA54CBB-DEC0-A4F3-E35A-CA79B696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398" y="2163056"/>
            <a:ext cx="2390453" cy="9065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F2E304-E555-400B-5D80-0A782B8D0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398" y="1098644"/>
            <a:ext cx="2390453" cy="90653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F7C17A-8478-F1C6-E24D-9132299155A3}"/>
              </a:ext>
            </a:extLst>
          </p:cNvPr>
          <p:cNvSpPr txBox="1"/>
          <p:nvPr/>
        </p:nvSpPr>
        <p:spPr>
          <a:xfrm>
            <a:off x="769257" y="210145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Subtraction (−)</a:t>
            </a:r>
            <a:r>
              <a:rPr lang="en-US" sz="2200" dirty="0"/>
              <a:t> – Finds the difference between two numbers (Example: 32 − 16 = </a:t>
            </a:r>
            <a:r>
              <a:rPr lang="en-US" sz="2200" b="1" dirty="0"/>
              <a:t>16</a:t>
            </a:r>
            <a:r>
              <a:rPr lang="en-US" sz="2200" dirty="0"/>
              <a:t>)</a:t>
            </a:r>
            <a:endParaRPr lang="en-IN" sz="2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F5EA5-9A86-5C0B-291D-8FA5A5207BCD}"/>
              </a:ext>
            </a:extLst>
          </p:cNvPr>
          <p:cNvSpPr txBox="1"/>
          <p:nvPr/>
        </p:nvSpPr>
        <p:spPr>
          <a:xfrm>
            <a:off x="769257" y="3085808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Multiplication (×)</a:t>
            </a:r>
            <a:r>
              <a:rPr lang="en-US" sz="2200" dirty="0"/>
              <a:t> – Multiplies numbers to get product (Example: 6 × 3 = </a:t>
            </a:r>
            <a:r>
              <a:rPr lang="en-US" sz="2200" b="1" dirty="0"/>
              <a:t>18</a:t>
            </a:r>
            <a:r>
              <a:rPr lang="en-US" sz="2200" dirty="0"/>
              <a:t>)</a:t>
            </a:r>
            <a:endParaRPr lang="en-IN" sz="2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9ED7374-31E4-2394-C0EB-230EB8BFC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398" y="3238836"/>
            <a:ext cx="2390453" cy="92414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81F5894-0C8A-DC1C-344F-F2E3D8D3EFEA}"/>
              </a:ext>
            </a:extLst>
          </p:cNvPr>
          <p:cNvSpPr txBox="1"/>
          <p:nvPr/>
        </p:nvSpPr>
        <p:spPr>
          <a:xfrm>
            <a:off x="769257" y="522771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Division (÷)</a:t>
            </a:r>
            <a:r>
              <a:rPr lang="en-US" sz="2200" dirty="0"/>
              <a:t> – Divides one number by another (Example: 20 ÷ 4 = </a:t>
            </a:r>
            <a:r>
              <a:rPr lang="en-US" sz="2200" b="1" dirty="0"/>
              <a:t>5</a:t>
            </a:r>
            <a:r>
              <a:rPr lang="en-US" sz="2200" dirty="0"/>
              <a:t>)</a:t>
            </a:r>
            <a:endParaRPr lang="en-IN" sz="2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26A53CB-EADA-EEDD-8341-C5D1B47052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399" y="5330667"/>
            <a:ext cx="2390454" cy="82076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3F742F2-600F-F139-8A33-225C661A2A1E}"/>
              </a:ext>
            </a:extLst>
          </p:cNvPr>
          <p:cNvSpPr txBox="1"/>
          <p:nvPr/>
        </p:nvSpPr>
        <p:spPr>
          <a:xfrm>
            <a:off x="838200" y="413392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Backspace (⌫)</a:t>
            </a:r>
            <a:r>
              <a:rPr lang="en-US" sz="2200" dirty="0"/>
              <a:t> – Deletes last entered digit </a:t>
            </a:r>
            <a:r>
              <a:rPr lang="en-IN" sz="2200" dirty="0"/>
              <a:t>(Example: 456 → 45)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3402DB0-4D5E-6222-F67C-7821494E5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398" y="4334546"/>
            <a:ext cx="2390454" cy="82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09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9E8A-AF82-04AC-EF10-DECC9EE6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1"/>
            <a:ext cx="8944429" cy="613368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</a:t>
            </a:r>
            <a:r>
              <a:rPr lang="en-IN" sz="4700" b="1" dirty="0"/>
              <a:t>Calculator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98559-D573-E826-5266-E4EE3465F9EF}"/>
              </a:ext>
            </a:extLst>
          </p:cNvPr>
          <p:cNvSpPr txBox="1"/>
          <p:nvPr/>
        </p:nvSpPr>
        <p:spPr>
          <a:xfrm>
            <a:off x="667657" y="1585463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Percentage (%)</a:t>
            </a:r>
            <a:r>
              <a:rPr lang="en-US" sz="2200" dirty="0"/>
              <a:t> – Converts number into percentage value (Example: 50% = 0.5)</a:t>
            </a:r>
            <a:endParaRPr lang="en-I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3E9A4-B3A4-672E-F86E-07FEEBC22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429" y="1114195"/>
            <a:ext cx="2728685" cy="11225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620CF5-84CD-27B3-0CDE-1D6F76DA64DA}"/>
              </a:ext>
            </a:extLst>
          </p:cNvPr>
          <p:cNvSpPr txBox="1"/>
          <p:nvPr/>
        </p:nvSpPr>
        <p:spPr>
          <a:xfrm>
            <a:off x="667657" y="278266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Brackets ( )</a:t>
            </a:r>
            <a:r>
              <a:rPr lang="en-US" sz="2200" dirty="0"/>
              <a:t> – Controls calculation order (Example: (2 + 3) × 4 = 20)</a:t>
            </a:r>
            <a:endParaRPr lang="en-IN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10D8E8-F201-2179-E3CB-B260EF2F6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429" y="2469866"/>
            <a:ext cx="2728685" cy="10209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E31041-2A3A-603D-1433-18C1259FC6CC}"/>
              </a:ext>
            </a:extLst>
          </p:cNvPr>
          <p:cNvSpPr txBox="1"/>
          <p:nvPr/>
        </p:nvSpPr>
        <p:spPr>
          <a:xfrm>
            <a:off x="667657" y="4949371"/>
            <a:ext cx="61504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History Feature</a:t>
            </a:r>
            <a:r>
              <a:rPr lang="en-US" sz="2200" dirty="0"/>
              <a:t> – Stores recent calculations ( shows last five expression + result History)</a:t>
            </a:r>
            <a:endParaRPr lang="en-IN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A8557-0572-4D2F-661F-E90BBB552861}"/>
              </a:ext>
            </a:extLst>
          </p:cNvPr>
          <p:cNvSpPr txBox="1"/>
          <p:nvPr/>
        </p:nvSpPr>
        <p:spPr>
          <a:xfrm>
            <a:off x="667657" y="3979875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Clear Button (AC)</a:t>
            </a:r>
            <a:r>
              <a:rPr lang="en-US" sz="2200" dirty="0"/>
              <a:t> – Removes all input from screen </a:t>
            </a:r>
            <a:endParaRPr lang="en-IN" sz="2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3F84118-715C-71A4-DF6B-19B307F6CA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91" y="4976184"/>
            <a:ext cx="4713959" cy="124794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284BEFC-2FFF-4303-4579-317A15A6E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429" y="3722087"/>
            <a:ext cx="2728685" cy="104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96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6F0D-70A9-DDBA-AAC6-D0425454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440" y="137886"/>
            <a:ext cx="10423786" cy="711200"/>
          </a:xfrm>
        </p:spPr>
        <p:txBody>
          <a:bodyPr>
            <a:noAutofit/>
          </a:bodyPr>
          <a:lstStyle/>
          <a:p>
            <a:r>
              <a:rPr lang="en-IN" b="1" dirty="0"/>
              <a:t>             Main Functional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FD45E-9329-2DB0-8843-CF09438E6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1274164"/>
            <a:ext cx="11146971" cy="53878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   </a:t>
            </a:r>
            <a:r>
              <a:rPr lang="en-IN" sz="2400" b="1" dirty="0"/>
              <a:t>Key Functions Explained :</a:t>
            </a:r>
            <a:endParaRPr lang="en-US" sz="2200" b="1" dirty="0"/>
          </a:p>
          <a:p>
            <a:r>
              <a:rPr lang="en-US" sz="2200" b="1" dirty="0"/>
              <a:t>press(value) - </a:t>
            </a:r>
            <a:r>
              <a:rPr lang="en-US" sz="2200" dirty="0"/>
              <a:t>Handles button clicks by inserting numbers and operators into the display, and automatically adds multiplication when brackets are used.</a:t>
            </a:r>
          </a:p>
          <a:p>
            <a:r>
              <a:rPr lang="en-US" sz="2200" b="1" dirty="0"/>
              <a:t>equal()</a:t>
            </a:r>
            <a:r>
              <a:rPr lang="en-US" sz="2200" dirty="0"/>
              <a:t> - Evaluates the entered mathematical expression, displays the result, and stores it in the history.</a:t>
            </a:r>
          </a:p>
          <a:p>
            <a:r>
              <a:rPr lang="en-US" sz="2200" b="1" dirty="0"/>
              <a:t>clear() - </a:t>
            </a:r>
            <a:r>
              <a:rPr lang="en-US" sz="2200" dirty="0"/>
              <a:t>This function completely clears the calculator display so the user can start a new calculation.</a:t>
            </a:r>
          </a:p>
          <a:p>
            <a:r>
              <a:rPr lang="en-US" sz="2200" b="1" dirty="0"/>
              <a:t>backspace() - </a:t>
            </a:r>
            <a:r>
              <a:rPr lang="en-US" sz="2200" dirty="0"/>
              <a:t>This function removes the last entered digit or operator from the display, allowing quick correction of input mistakes.</a:t>
            </a:r>
          </a:p>
          <a:p>
            <a:r>
              <a:rPr lang="en-US" sz="2200" b="1" dirty="0"/>
              <a:t>history() - </a:t>
            </a:r>
            <a:r>
              <a:rPr lang="en-US" sz="2200" dirty="0"/>
              <a:t>This function displays the last five stored calculations on the screen, helping users review previous results.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85080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2613-C215-5F8D-3657-7DBC5043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297542"/>
            <a:ext cx="10364451" cy="892629"/>
          </a:xfrm>
        </p:spPr>
        <p:txBody>
          <a:bodyPr/>
          <a:lstStyle/>
          <a:p>
            <a:r>
              <a:rPr lang="en-IN" dirty="0"/>
              <a:t>                </a:t>
            </a:r>
            <a:r>
              <a:rPr lang="en-IN" b="1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A94AA-F92A-F50D-57EE-D64F2E91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29" y="1618342"/>
            <a:ext cx="10479941" cy="4753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• Designing a clean and user-friendly calculator interface</a:t>
            </a:r>
            <a:br>
              <a:rPr lang="en-US" sz="2200" dirty="0"/>
            </a:br>
            <a:r>
              <a:rPr lang="en-US" sz="2200" dirty="0"/>
              <a:t>• Aligning buttons properly using grid layout</a:t>
            </a:r>
            <a:br>
              <a:rPr lang="en-US" sz="2200" dirty="0"/>
            </a:br>
            <a:r>
              <a:rPr lang="en-US" sz="2200" dirty="0"/>
              <a:t>• Handling long mathematical expressions on small display</a:t>
            </a:r>
            <a:br>
              <a:rPr lang="en-US" sz="2200" dirty="0"/>
            </a:br>
            <a:r>
              <a:rPr lang="en-US" sz="2200" dirty="0"/>
              <a:t>• Managing incorrect or incomplete user input</a:t>
            </a:r>
            <a:br>
              <a:rPr lang="en-US" sz="2200" dirty="0"/>
            </a:br>
            <a:r>
              <a:rPr lang="en-US" sz="2200" dirty="0"/>
              <a:t>• Preventing crashes during calculation</a:t>
            </a:r>
            <a:br>
              <a:rPr lang="en-US" sz="2200" dirty="0"/>
            </a:br>
            <a:r>
              <a:rPr lang="en-US" sz="2200" dirty="0"/>
              <a:t>• Implementing calculation history feature</a:t>
            </a:r>
            <a:br>
              <a:rPr lang="en-US" sz="2200" dirty="0"/>
            </a:br>
            <a:r>
              <a:rPr lang="en-US" sz="2200" dirty="0"/>
              <a:t>• Limiting history storage efficiently</a:t>
            </a:r>
            <a:br>
              <a:rPr lang="en-US" sz="2200" dirty="0"/>
            </a:br>
            <a:r>
              <a:rPr lang="en-US" sz="2200" dirty="0"/>
              <a:t>• Resetting display after showing result</a:t>
            </a:r>
            <a:br>
              <a:rPr lang="en-US" sz="2200" dirty="0"/>
            </a:br>
            <a:r>
              <a:rPr lang="en-US" sz="2200" dirty="0"/>
              <a:t>• Handling special operations like percentage and brackets</a:t>
            </a:r>
            <a:br>
              <a:rPr lang="en-US" sz="2200" dirty="0"/>
            </a:br>
            <a:r>
              <a:rPr lang="en-US" sz="2200" dirty="0"/>
              <a:t>• Debugging layout and logic error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146521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68CB3-7EA5-ECF4-A89E-EA88BD1C6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1" y="307030"/>
            <a:ext cx="7966220" cy="892182"/>
          </a:xfrm>
        </p:spPr>
        <p:txBody>
          <a:bodyPr/>
          <a:lstStyle/>
          <a:p>
            <a:r>
              <a:rPr lang="en-IN" b="1" dirty="0"/>
              <a:t>    Solutions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C457-4C4E-58CC-CAD7-6394887D8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3968"/>
            <a:ext cx="8946541" cy="4674432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• Used proper spacing, fonts, and organized layout for clean        interface</a:t>
            </a:r>
            <a:br>
              <a:rPr lang="en-US" sz="2200" dirty="0"/>
            </a:br>
            <a:r>
              <a:rPr lang="en-US" sz="2200" dirty="0"/>
              <a:t>• Applied Tkinter grid system with padding and column configuration</a:t>
            </a:r>
            <a:br>
              <a:rPr lang="en-US" sz="2200" dirty="0"/>
            </a:br>
            <a:r>
              <a:rPr lang="en-US" sz="2200" dirty="0"/>
              <a:t>• Implemented dynamic input handling for long expressions</a:t>
            </a:r>
            <a:br>
              <a:rPr lang="en-US" sz="2200" dirty="0"/>
            </a:br>
            <a:r>
              <a:rPr lang="en-US" sz="2200" dirty="0"/>
              <a:t>• Used try-except block to manage incorrect input safely</a:t>
            </a:r>
            <a:br>
              <a:rPr lang="en-US" sz="2200" dirty="0"/>
            </a:br>
            <a:r>
              <a:rPr lang="en-US" sz="2200" dirty="0"/>
              <a:t>• Added error handling to prevent application crashes</a:t>
            </a:r>
            <a:br>
              <a:rPr lang="en-US" sz="2200" dirty="0"/>
            </a:br>
            <a:r>
              <a:rPr lang="en-US" sz="2200" dirty="0"/>
              <a:t>• Used Python list to store calculation history</a:t>
            </a:r>
            <a:br>
              <a:rPr lang="en-US" sz="2200" dirty="0"/>
            </a:br>
            <a:r>
              <a:rPr lang="en-US" sz="2200" dirty="0"/>
              <a:t>• Limited history storage to last five results</a:t>
            </a:r>
            <a:br>
              <a:rPr lang="en-US" sz="2200" dirty="0"/>
            </a:br>
            <a:r>
              <a:rPr lang="en-US" sz="2200" dirty="0"/>
              <a:t>• Implemented result reset logic after calculation</a:t>
            </a:r>
            <a:br>
              <a:rPr lang="en-US" sz="2200" dirty="0"/>
            </a:br>
            <a:r>
              <a:rPr lang="en-US" sz="2200" dirty="0"/>
              <a:t>• Added special logic for percentage and brackets</a:t>
            </a:r>
            <a:br>
              <a:rPr lang="en-US" sz="2200" dirty="0"/>
            </a:br>
            <a:r>
              <a:rPr lang="en-US" sz="2200" dirty="0"/>
              <a:t>• Tested and debugged layout and program logic thoroughly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286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8778-7DD8-973F-1BF5-4939D0868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398426"/>
            <a:ext cx="8946541" cy="3849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b="1" dirty="0"/>
              <a:t>Thank you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68849876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230</TotalTime>
  <Words>962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PowerPoint Presentation</vt:lpstr>
      <vt:lpstr>                            Introduction</vt:lpstr>
      <vt:lpstr>                   Objective of the Project </vt:lpstr>
      <vt:lpstr>           Tools &amp; Technologies Used</vt:lpstr>
      <vt:lpstr>           Calculator Layout Design</vt:lpstr>
      <vt:lpstr>            Application Architecture</vt:lpstr>
      <vt:lpstr>                     User Interface Design </vt:lpstr>
      <vt:lpstr>         Final Calculator User Interface</vt:lpstr>
      <vt:lpstr>             Calculator Functions</vt:lpstr>
      <vt:lpstr>             Calculator Functions</vt:lpstr>
      <vt:lpstr>             Main Functional Modules</vt:lpstr>
      <vt:lpstr>                Challenges Faced</vt:lpstr>
      <vt:lpstr>    Solutions Implemented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chauhan</dc:creator>
  <cp:lastModifiedBy>mohit chauhan</cp:lastModifiedBy>
  <cp:revision>16</cp:revision>
  <dcterms:created xsi:type="dcterms:W3CDTF">2026-02-15T08:01:06Z</dcterms:created>
  <dcterms:modified xsi:type="dcterms:W3CDTF">2026-02-16T07:55:18Z</dcterms:modified>
</cp:coreProperties>
</file>